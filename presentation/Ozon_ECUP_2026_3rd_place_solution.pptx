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692f53f5634881" /><Relationship Type="http://schemas.openxmlformats.org/officeDocument/2006/relationships/extended-properties" Target="/docProps/app.xml" Id="R24bcdc362c7443ba" /><Relationship Type="http://schemas.openxmlformats.org/officeDocument/2006/relationships/officeDocument" Target="/ppt/presentation.xml" Id="R91b34b8c11d142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849348dc4b4612"/>
  </p:sldMasterIdLst>
  <p:notesMasterIdLst>
    <p:notesMasterId xmlns:r="http://schemas.openxmlformats.org/officeDocument/2006/relationships" r:id="R2781abf90f114f13"/>
  </p:notesMasterIdLst>
  <p:sldIdLst>
    <p:sldId xmlns:r="http://schemas.openxmlformats.org/officeDocument/2006/relationships" id="256" r:id="Re5be8990bdc04a2e"/>
    <p:sldId xmlns:r="http://schemas.openxmlformats.org/officeDocument/2006/relationships" id="257" r:id="R3b5170ad0c004f52"/>
    <p:sldId xmlns:r="http://schemas.openxmlformats.org/officeDocument/2006/relationships" id="258" r:id="R00b5eddb525243c7"/>
    <p:sldId xmlns:r="http://schemas.openxmlformats.org/officeDocument/2006/relationships" id="259" r:id="R7df04854093e41d9"/>
    <p:sldId xmlns:r="http://schemas.openxmlformats.org/officeDocument/2006/relationships" id="260" r:id="R088dd2c833814719"/>
    <p:sldId xmlns:r="http://schemas.openxmlformats.org/officeDocument/2006/relationships" id="261" r:id="Ra0da455978a84fec"/>
    <p:sldId xmlns:r="http://schemas.openxmlformats.org/officeDocument/2006/relationships" id="262" r:id="Rfbd1b501ed4a4cd6"/>
    <p:sldId xmlns:r="http://schemas.openxmlformats.org/officeDocument/2006/relationships" id="263" r:id="Rf1f84c954a5241bb"/>
    <p:sldId xmlns:r="http://schemas.openxmlformats.org/officeDocument/2006/relationships" id="264" r:id="R9cb3c7e897a54517"/>
    <p:sldId xmlns:r="http://schemas.openxmlformats.org/officeDocument/2006/relationships" id="265" r:id="R0645bb3bfcbd42db"/>
    <p:sldId xmlns:r="http://schemas.openxmlformats.org/officeDocument/2006/relationships" id="266" r:id="Rb9837f2927194366"/>
    <p:sldId xmlns:r="http://schemas.openxmlformats.org/officeDocument/2006/relationships" id="267" r:id="R347e317440fb48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10d4402a7349e4" /><Relationship Type="http://schemas.openxmlformats.org/officeDocument/2006/relationships/slideMaster" Target="/ppt/slideMasters/slideMaster1.xml" Id="R49849348dc4b4612" /><Relationship Type="http://schemas.openxmlformats.org/officeDocument/2006/relationships/notesMaster" Target="/ppt/notesMasters/notesMaster1.xml" Id="R2781abf90f114f13" /><Relationship Type="http://schemas.openxmlformats.org/officeDocument/2006/relationships/presProps" Target="/ppt/presProps.xml" Id="R8fe5df4148484b7f" /><Relationship Type="http://schemas.openxmlformats.org/officeDocument/2006/relationships/tableStyles" Target="/ppt/tableStyles.xml" Id="Rae680454440f4ecd" /><Relationship Type="http://schemas.openxmlformats.org/officeDocument/2006/relationships/slide" Target="/ppt/slides/slide1.xml" Id="Re5be8990bdc04a2e" /><Relationship Type="http://schemas.openxmlformats.org/officeDocument/2006/relationships/slide" Target="/ppt/slides/slide2.xml" Id="R3b5170ad0c004f52" /><Relationship Type="http://schemas.openxmlformats.org/officeDocument/2006/relationships/slide" Target="/ppt/slides/slide3.xml" Id="R00b5eddb525243c7" /><Relationship Type="http://schemas.openxmlformats.org/officeDocument/2006/relationships/slide" Target="/ppt/slides/slide4.xml" Id="R7df04854093e41d9" /><Relationship Type="http://schemas.openxmlformats.org/officeDocument/2006/relationships/slide" Target="/ppt/slides/slide5.xml" Id="R088dd2c833814719" /><Relationship Type="http://schemas.openxmlformats.org/officeDocument/2006/relationships/slide" Target="/ppt/slides/slide6.xml" Id="Ra0da455978a84fec" /><Relationship Type="http://schemas.openxmlformats.org/officeDocument/2006/relationships/slide" Target="/ppt/slides/slide7.xml" Id="Rfbd1b501ed4a4cd6" /><Relationship Type="http://schemas.openxmlformats.org/officeDocument/2006/relationships/slide" Target="/ppt/slides/slide8.xml" Id="Rf1f84c954a5241bb" /><Relationship Type="http://schemas.openxmlformats.org/officeDocument/2006/relationships/slide" Target="/ppt/slides/slide9.xml" Id="R9cb3c7e897a54517" /><Relationship Type="http://schemas.openxmlformats.org/officeDocument/2006/relationships/slide" Target="/ppt/slides/slide10.xml" Id="R0645bb3bfcbd42db" /><Relationship Type="http://schemas.openxmlformats.org/officeDocument/2006/relationships/slide" Target="/ppt/slides/slide11.xml" Id="Rb9837f2927194366" /><Relationship Type="http://schemas.openxmlformats.org/officeDocument/2006/relationships/slide" Target="/ppt/slides/slide12.xml" Id="R347e317440fb48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ad97f0f40748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zon E-CUP 2026">
  <a:themeElements>
    <a:clrScheme name="Ozon E-CUP 2026">
      <a:dk1>
        <a:srgbClr val="000000"/>
      </a:dk1>
      <a:lt1>
        <a:srgbClr val="FFFFFF"/>
      </a:lt1>
      <a:dk2>
        <a:srgbClr val="172B4D"/>
      </a:dk2>
      <a:lt2>
        <a:srgbClr val="DCE3EC"/>
      </a:lt2>
      <a:accent1>
        <a:srgbClr val="005BFF"/>
      </a:accent1>
      <a:accent2>
        <a:srgbClr val="F79009"/>
      </a:accent2>
      <a:accent3>
        <a:srgbClr val="12B76A"/>
      </a:accent3>
      <a:accent4>
        <a:srgbClr val="E5484D"/>
      </a:accent4>
      <a:accent5>
        <a:srgbClr val="2F80ED"/>
      </a:accent5>
      <a:accent6>
        <a:srgbClr val="172B4D"/>
      </a:accent6>
      <a:hlink>
        <a:srgbClr val="005BFF"/>
      </a:hlink>
      <a:folHlink>
        <a:srgbClr val="7F56D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zon E-CUP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82f1dda4bd4ab8" /><Relationship Type="http://schemas.openxmlformats.org/officeDocument/2006/relationships/notesMaster" Target="/ppt/notesMasters/notesMaster1.xml" Id="Rad7a704fe35b44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a9c1f051174144" /><Relationship Type="http://schemas.openxmlformats.org/officeDocument/2006/relationships/notesMaster" Target="/ppt/notesMasters/notesMaster1.xml" Id="R13c9cbe9c50944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5daf8030ca4cbe" /><Relationship Type="http://schemas.openxmlformats.org/officeDocument/2006/relationships/notesMaster" Target="/ppt/notesMasters/notesMaster1.xml" Id="R8dfa31d3e52740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b717f1dd534da1" /><Relationship Type="http://schemas.openxmlformats.org/officeDocument/2006/relationships/notesMaster" Target="/ppt/notesMasters/notesMaster1.xml" Id="R9ac18e58ec4842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14e998d2ba49c2" /><Relationship Type="http://schemas.openxmlformats.org/officeDocument/2006/relationships/notesMaster" Target="/ppt/notesMasters/notesMaster1.xml" Id="Rd5e8abd9183448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a2f4ed9a4e4848" /><Relationship Type="http://schemas.openxmlformats.org/officeDocument/2006/relationships/notesMaster" Target="/ppt/notesMasters/notesMaster1.xml" Id="Rcd8fd743efa34a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c05e3fb1d84cf2" /><Relationship Type="http://schemas.openxmlformats.org/officeDocument/2006/relationships/notesMaster" Target="/ppt/notesMasters/notesMaster1.xml" Id="R43238eb44f7845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db8437387749fc" /><Relationship Type="http://schemas.openxmlformats.org/officeDocument/2006/relationships/notesMaster" Target="/ppt/notesMasters/notesMaster1.xml" Id="R82ca9354228f4c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54ce377ff24eff" /><Relationship Type="http://schemas.openxmlformats.org/officeDocument/2006/relationships/notesMaster" Target="/ppt/notesMasters/notesMaster1.xml" Id="Ra8d34aa9975549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f3179414644ef9" /><Relationship Type="http://schemas.openxmlformats.org/officeDocument/2006/relationships/notesMaster" Target="/ppt/notesMasters/notesMaster1.xml" Id="Re9eee3f545394b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07c6a1daad4044" /><Relationship Type="http://schemas.openxmlformats.org/officeDocument/2006/relationships/notesMaster" Target="/ppt/notesMasters/notesMaster1.xml" Id="R2059155ad4724a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a072ef390b4f78" /><Relationship Type="http://schemas.openxmlformats.org/officeDocument/2006/relationships/notesMaster" Target="/ppt/notesMasters/notesMaster1.xml" Id="R1817696d9bed41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Открыть защиту результатом: третье место. Затем сразу сформулировать тезис — выигрыш дал не один трюк, а согласованный ranking-пайплайн: представление, каскад, симметрия, rank fusion и дисциплина runtime.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/Users/hare/competition/ozon_matching/README.md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Подчеркнуть macro-усреднение: редкие категории нельзя жертвовать ради крупных. Public отражает только меньшую часть теста, поэтому финальная стратегия отдельно учитывала устойчивость и время исполнения.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https://scikit-learn.org/stable/modules/generated/sklearn.metrics.average_precision_score.html</a:t>
            </a:r>
          </a:p>
          <a:p xmlns:a="http://schemas.openxmlformats.org/drawingml/2006/main">
            <a:r>
              <a:t>- /Users/hare/competition/ozon_matching/README.md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примере слева показать, что один негатив, поднятый выше позитива, ухудшает precision на нескольких уровнях recall. Сила постобработки здесь — в исправлении порядка; калибровка сама по себе не помогает.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https://scikit-learn.org/stable/modules/model_evaluation.html#precision-recall-f-measure-metrics</a:t>
            </a:r>
          </a:p>
          <a:p xmlns:a="http://schemas.openxmlformats.org/drawingml/2006/main">
            <a:r>
              <a:t>- /Users/hare/competition/ozon_matching/README.md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Показать, что это не feature engineering поверх score, а стабилизация входа cross-encoder. Категория задаёт контекст, канонизация ключей и фиксированный порядок убирают ложные различия.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/Users/hare/competition/ozon_matching/solutions/mix408_textneg/runtime/run.py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центральный слайд защиты. Пройти слева направо. Важно: каскад и partial symmetry экономят вычисления, RRF объединяет порядок, а exact correction применяется в самом конце.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/Users/hare/competition/ozon_matching/solutions/mix408_textneg/runtime/run.py</a:t>
            </a:r>
          </a:p>
          <a:p xmlns:a="http://schemas.openxmlformats.org/drawingml/2006/main">
            <a:r>
              <a:t>- /Users/hare/competition/ozon_matching/solutions/mix408_textneg/runtime/metadata.json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Объяснить порог 0.65 как зафиксированный компромисс: gate видит все пары, scorer концентрируется на верхней зоне ранжирования, где перестановки сильнее влияют на 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/Users/hare/competition/ozon_matching/solutions/mix408_textneg/runtime/metadata.json</a:t>
            </a:r>
          </a:p>
          <a:p xmlns:a="http://schemas.openxmlformats.org/drawingml/2006/main">
            <a:r>
              <a:t>- /Users/hare/competition/ozon_matching/solutions/mix408_textneg/README.md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Слева — зачем нужен reverse pass: порядок карточек формально не должен менять ответ, но cross-encoder не идеально симметричен. Справа — почему RRF: он объединяет позиции, а не несопоставимые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/Users/hare/competition/ozon_matching/solutions/mix408_textneg/runtime/run.py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Важно назвать границу метода: это не fuzzy retrieval и не новая модель. Компактный массив содержит точные сигнатуры известных повторяющихся отрицательных текстовых паттернов; lookup полностью детерминирован.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/Users/hare/competition/ozon_matching/solutions/mix408_textneg/assets/textsig_negative_u64.npy</a:t>
            </a:r>
          </a:p>
          <a:p xmlns:a="http://schemas.openxmlformats.org/drawingml/2006/main">
            <a:r>
              <a:t>- /Users/hare/competition/ozon_matching/solutions/mix408_textneg/runtime/run.py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подавать цифры как end-to-end latency: это отдельные измерения padding и этапа токенизации, записанные в frozen runtime. Связать оптимизацию с модельным качеством: сэкономленный бюджет можно потратить на более сильный scorer.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/Users/hare/competition/ozon_matching/solutions/mix408_textneg/runtime/run.py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Показать, что хедж не был случайным вторым сабмитом. Он сознательно отдаёт public-дельту за более простой gate и меньший риск таймаута на private, которая примерно в 2.4 раза больше public.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/Users/hare/competition/ozon_matching/solutions/mix408_textneg/README.md</a:t>
            </a:r>
          </a:p>
          <a:p xmlns:a="http://schemas.openxmlformats.org/drawingml/2006/main">
            <a:r>
              <a:t>- /Users/hare/competition/ozon_matching/solutions/final_safe_fwdgate/README.md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этом слайде зафиксировать только подтверждённые результаты: место, лучший public и воспроизводимость двух финальных архивов. Private score не указывать, потому что он не зафиксирован в репозитории.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/Users/hare/competition/ozon_matching/README.md</a:t>
            </a:r>
          </a:p>
          <a:p xmlns:a="http://schemas.openxmlformats.org/drawingml/2006/main">
            <a:r>
              <a:t>- /Users/hare/competition/ozon_matching/solutions/mix408_textneg/manifest.json</a:t>
            </a:r>
          </a:p>
          <a:p xmlns:a="http://schemas.openxmlformats.org/drawingml/2006/main">
            <a:r>
              <a:t>- /Users/hare/competition/ozon_matching/solutions/final_safe_fwdgate/manifest.json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Закрыть четырьмя переносимыми принципами и перейти к вопросам. Если попросят один главный вклад — ответ: согласование category-wise ranking с адресным распределением compute.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/Users/hare/competition/ozon_matching/README.md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2c67b89b34c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8a57eedcd6463c" /><Relationship Type="http://schemas.openxmlformats.org/officeDocument/2006/relationships/slideLayout" Target="/ppt/slideLayouts/slideLayout1.xml" Id="R8fd83705eeb143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d83705eeb143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zon E-CUP 2026">
  <a:themeElements>
    <a:clrScheme name="Ozon E-CUP 2026">
      <a:dk1>
        <a:srgbClr val="000000"/>
      </a:dk1>
      <a:lt1>
        <a:srgbClr val="FFFFFF"/>
      </a:lt1>
      <a:dk2>
        <a:srgbClr val="172B4D"/>
      </a:dk2>
      <a:lt2>
        <a:srgbClr val="DCE3EC"/>
      </a:lt2>
      <a:accent1>
        <a:srgbClr val="005BFF"/>
      </a:accent1>
      <a:accent2>
        <a:srgbClr val="F79009"/>
      </a:accent2>
      <a:accent3>
        <a:srgbClr val="12B76A"/>
      </a:accent3>
      <a:accent4>
        <a:srgbClr val="E5484D"/>
      </a:accent4>
      <a:accent5>
        <a:srgbClr val="2F80ED"/>
      </a:accent5>
      <a:accent6>
        <a:srgbClr val="172B4D"/>
      </a:accent6>
      <a:hlink>
        <a:srgbClr val="005BFF"/>
      </a:hlink>
      <a:folHlink>
        <a:srgbClr val="7F56D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zon E-CUP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19670854d4acc" /><Relationship Type="http://schemas.openxmlformats.org/officeDocument/2006/relationships/notesSlide" Target="/ppt/notesSlides/notesSlide1.xml" Id="R1850649711e64a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95bbc7fcc47d3" /><Relationship Type="http://schemas.openxmlformats.org/officeDocument/2006/relationships/notesSlide" Target="/ppt/notesSlides/notesSlide2.xml" Id="R8298ac8e77014c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ef1f6581c4dbc" /><Relationship Type="http://schemas.openxmlformats.org/officeDocument/2006/relationships/notesSlide" Target="/ppt/notesSlides/notesSlide3.xml" Id="R719e4ffebad241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fdc2620ed4e60" /><Relationship Type="http://schemas.openxmlformats.org/officeDocument/2006/relationships/notesSlide" Target="/ppt/notesSlides/notesSlide4.xml" Id="Radcf476a631f49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5cc74edad452b" /><Relationship Type="http://schemas.openxmlformats.org/officeDocument/2006/relationships/notesSlide" Target="/ppt/notesSlides/notesSlide5.xml" Id="R43a576ae74b848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7d61639274ee6" /><Relationship Type="http://schemas.openxmlformats.org/officeDocument/2006/relationships/notesSlide" Target="/ppt/notesSlides/notesSlide6.xml" Id="R7fafaab3d85d4c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d2b5d96d94d07" /><Relationship Type="http://schemas.openxmlformats.org/officeDocument/2006/relationships/notesSlide" Target="/ppt/notesSlides/notesSlide7.xml" Id="R8501c9dee8604f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112e5020d426a" /><Relationship Type="http://schemas.openxmlformats.org/officeDocument/2006/relationships/notesSlide" Target="/ppt/notesSlides/notesSlide8.xml" Id="R4c658957216749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b35935a2a4380" /><Relationship Type="http://schemas.openxmlformats.org/officeDocument/2006/relationships/notesSlide" Target="/ppt/notesSlides/notesSlide9.xml" Id="Rb325507eb6b049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ecab53caa4ba1" /><Relationship Type="http://schemas.openxmlformats.org/officeDocument/2006/relationships/notesSlide" Target="/ppt/notesSlides/notesSlide10.xml" Id="Rfc1563b0037141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0d3673e6c4280" /><Relationship Type="http://schemas.openxmlformats.org/officeDocument/2006/relationships/notesSlide" Target="/ppt/notesSlides/notesSlide11.xml" Id="Rbdb8f08f920f42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ad6ee175e4b72" /><Relationship Type="http://schemas.openxmlformats.org/officeDocument/2006/relationships/notesSlide" Target="/ppt/notesSlides/notesSlide12.xml" Id="R96397184eb5340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C4ADE-2779-4024-9256-E121223D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EEF4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8253B-6F17-4F6F-AD62-A9427DE2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OZON E-CUP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B0B62-A413-4A13-9783-EF2DDA52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Product Matching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D3B14-5110-4BD6-B7D7-B9618A6A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33625"/>
            <a:ext cx="781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81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Как мы построили устойчивый ranking-пайплайн</a:t>
            </a:r>
          </a:p>
          <a:p xmlns:a="http://schemas.openxmlformats.org/drawingml/2006/main">
            <a:pPr algn="l">
              <a:def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и заняли 3 место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44AED-A5E8-430F-94D2-7EFBB6E6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Технический разбор решения для жюри и ML-сообщества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584F4-30B0-4837-8780-1431C2F6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FF"/>
          </a:solidFill>
          <a:ln xmlns:a="http://schemas.openxmlformats.org/drawingml/2006/main" w="9525">
            <a:solidFill>
              <a:srgbClr val="005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E374E-B0DF-4B3B-B241-0E06E309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62075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8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3A3A3-2DE9-4240-A80F-54334DFB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955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МЕСТО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95300" y="57531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C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A85C5-4B9B-4062-BAC5-9AC8F39E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912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Macro PR-AUC · two-stage cross-encoder · category-wise ranking</a:t>
            </a:r>
          </a:p>
        </p:txBody>
      </p:sp>
    </p:spTree>
    <p:extLst>
      <p:ext uri="{BB962C8B-B14F-4D97-AF65-F5344CB8AC3E}">
        <p14:creationId xmlns:p14="http://schemas.microsoft.com/office/powerpoint/2010/main" val="7678906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0101D4-AF1F-4BE8-8C1A-676EC159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ПОСТАНОВКА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FFC5E-D217-4A78-B5A4-7EA886F8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Задача: ранжировать пары внутри 20 категорий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95300" y="13049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C9B88-5EC4-4D66-8EE7-C7FCDCA8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0EDF0-8982-4246-9C26-A6409C4F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037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Для каждой пары карточек предсказываем вероятность того, что это один товар.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BF576-6867-4581-9C81-9D314CC3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3429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28AC0-DA87-4CB4-A453-E81721C5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297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61630-9F3C-478A-AAC9-D6608104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категорий</a:t>
            </a:r>
          </a:p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равный вес в macro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B90FA-9259-4DF2-9F36-ECD41572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62200"/>
            <a:ext cx="3429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FE697-27BE-4703-836B-11755424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86050"/>
            <a:ext cx="297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30 / 70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8D9BC-447C-4A1E-B4E3-8A25913E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147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public / private</a:t>
            </a:r>
          </a:p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примерное соотношение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32A3C-3663-4966-B732-3249B1B8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62200"/>
            <a:ext cx="3429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A0A6A-F294-4673-BB99-9FDA5AB3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86050"/>
            <a:ext cx="297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1A46D4-7D8A-465B-9486-07EF7BC4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average_precision_score</a:t>
            </a:r>
          </a:p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по каждой категории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511E6-4099-4799-AFE6-56132F65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95875"/>
            <a:ext cx="109728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EEF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7058E-8E92-4157-AC36-0F8EB45B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4475"/>
            <a:ext cx="1051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Оптимизируем не абсолютную калибровку, а порядок пар в каждой категории.</a:t>
            </a:r>
          </a:p>
        </p:txBody>
      </p:sp>
    </p:spTree>
    <p:extLst>
      <p:ext uri="{BB962C8B-B14F-4D97-AF65-F5344CB8AC3E}">
        <p14:creationId xmlns:p14="http://schemas.microsoft.com/office/powerpoint/2010/main" val="16231260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55C319-D3B0-45D1-A0B6-009ADCA5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МЕТРИКА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BB001-6204-4095-A74C-35A4237D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Что Macro PR-AUC меняет в стратегии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95300" y="13049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51B02-599E-44DE-AB1E-B2289B1C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625E1-03F7-4AA8-B623-93DFE824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46016-6FB4-4282-8B94-9E91740B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050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5229A-E131-453B-A130-482BA590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66925"/>
            <a:ext cx="1095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EC234-C9C5-474C-9F00-2F2D6883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33600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B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2B76A"/>
                </a:solidFill>
                <a:latin typeface="Helvetica Neue"/>
                <a:ea typeface="Helvetica Neue"/>
                <a:cs typeface="Helvetica Neue"/>
              </a:rPr>
              <a:t>Позитив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3BC4B-31F4-4D09-B388-83711AF2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0.93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B7B9F-D367-44B3-BE9A-D7D27C9C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7C416-0F77-49B7-AA20-795949D4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3A13D-FEDE-4079-A472-41ACBD72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9875"/>
            <a:ext cx="1095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191C5-2828-46CB-B60D-89C85A56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76550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B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2B76A"/>
                </a:solidFill>
                <a:latin typeface="Helvetica Neue"/>
                <a:ea typeface="Helvetica Neue"/>
                <a:cs typeface="Helvetica Neue"/>
              </a:rPr>
              <a:t>Позитив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F6D7A-0439-4E7D-97A1-6BC3A420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0.81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D39389-E06C-4301-B84B-EE929230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94B43-1CC6-4440-BFB1-094B1BD5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396C6-085D-43CC-9FD5-A88C16C4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52825"/>
            <a:ext cx="1095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9976D6-D60E-4883-A253-892138CD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54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5484D"/>
                </a:solidFill>
                <a:latin typeface="Helvetica Neue"/>
                <a:ea typeface="Helvetica Neue"/>
                <a:cs typeface="Helvetica Neue"/>
              </a:rPr>
              <a:t>Негатив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EADD21-E9C2-407B-A87E-BA91F5C6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814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0.80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F1D76-011F-4AD3-9B14-16D95F7E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81475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E87E8-27A3-4651-B5DA-02BCFFC9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2CBB80-207A-4FB8-86F7-0CAF395F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95775"/>
            <a:ext cx="1095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C35854-BC60-44FB-A5E6-248AC860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B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2B76A"/>
                </a:solidFill>
                <a:latin typeface="Helvetica Neue"/>
                <a:ea typeface="Helvetica Neue"/>
                <a:cs typeface="Helvetica Neue"/>
              </a:rPr>
              <a:t>Позитив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C86C58-69BB-4A4B-AA02-35AA6099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0.79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5829300" y="1695450"/>
            <a:ext cx="0" cy="3829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C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BB7F27-DB6E-4CDA-9A6C-7C2CB65D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Инвариантность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7837EF-EC15-47BA-8C27-84E4F2F4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Любое строго монотонное преобразование score сохраняет порядок — и метрику.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2062EA-BB3B-4F23-82A4-0B7985E3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Главный риск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F1B63A-43DB-4577-9384-3CBE355C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814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Округление и FP16 для финальных предсказаний создают ties. Порядок внутри tie меняется — AP может упасть.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D878A8-31FB-496D-AEBB-45EBACCE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00625"/>
            <a:ext cx="4762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FFF6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C8356B-2B3F-48DB-8084-D0CF095D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91125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90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79009"/>
                </a:solidFill>
                <a:latin typeface="Helvetica Neue"/>
                <a:ea typeface="Helvetica Neue"/>
                <a:cs typeface="Helvetica Neue"/>
              </a:rPr>
              <a:t>Следствие: fusion по рангам; score — без округления.</a:t>
            </a:r>
          </a:p>
        </p:txBody>
      </p:sp>
    </p:spTree>
    <p:extLst>
      <p:ext uri="{BB962C8B-B14F-4D97-AF65-F5344CB8AC3E}">
        <p14:creationId xmlns:p14="http://schemas.microsoft.com/office/powerpoint/2010/main" val="152836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8C8B80-96E5-406B-AC4D-3EA89523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ДАННЫЕ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A669E-3264-48AE-8AE6-CAC0E234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Представление карточки: меньше структурного шума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95300" y="13049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44146-7DBB-4BD8-A89F-E22CE0C9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2686050" y="3095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5BF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9173C-8344-4E9A-A5AB-50BC96BF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21907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B4DF2-5558-4829-BE1D-23BA5A62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298BF-8C4B-4C1B-BE26-ECD1D5C6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Название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96332-3078-4AA3-92DC-20CA4057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исходный title</a:t>
            </a:r>
          </a:p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с нормализацией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5448300" y="3095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5BFF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CE91C-58AB-4767-8201-3AFFDA00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1907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57AD8-0DEE-4F13-9B29-A12E8754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812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270FE-3C8B-425F-9B77-D4D24AE4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81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Категория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0934C-7F1F-4A20-92CD-A691E501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86125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явный контекст</a:t>
            </a:r>
          </a:p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товарного домена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8210550" y="3095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5BFF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98691-1C52-45E4-BDCB-BB415A3C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90750"/>
            <a:ext cx="21907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13BAA2-8D34-45D2-9B10-72E09862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D43141-0F47-47EA-8C87-C5DCE2D1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Атрибуты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A2CE1-9307-4220-93E1-4F584ED7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86125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9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canonical keys</a:t>
            </a:r>
          </a:p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+ фиксированный порядок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BFD98-E155-4308-9780-835995F6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90750"/>
            <a:ext cx="21907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005B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55BAE-DC17-42EA-9ABB-F56977BE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812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80C6D0-BB69-47DB-80BC-9C419B1E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81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Model 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519091-1F91-4AB2-A69D-69274DA1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86125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единая строка</a:t>
            </a:r>
          </a:p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для cross-encoder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AE9771-36B6-4BD1-8048-0BD23A76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0"/>
            <a:ext cx="1047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9DA86D-63C5-480C-9ABF-CBE85C9E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Почему это важно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C3D846-F78E-4BF7-A709-B3490484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387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Одинаковые свойства перестают отличаться из-за порядка JSON и вариантов названий ключей; модель тратит ёмкость на семантику пары.</a:t>
            </a:r>
          </a:p>
        </p:txBody>
      </p:sp>
    </p:spTree>
    <p:extLst>
      <p:ext uri="{BB962C8B-B14F-4D97-AF65-F5344CB8AC3E}">
        <p14:creationId xmlns:p14="http://schemas.microsoft.com/office/powerpoint/2010/main" val="7328623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160C5A-4E71-480C-8724-62F8CEB2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06D47-875B-46BA-96A5-9D80ACE6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Финальный inference: один связный ranking-пайплайн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95300" y="13049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5FA03-0ADD-49B7-926E-EECE3120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2190750" y="29527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5BFF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4143375" y="29527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5BFF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6096000" y="29527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5BFF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8048625" y="29527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5BFF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10001250" y="29527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5B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CA75E-389D-4362-9381-E2166B02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1666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60176-286D-4FEF-B3A3-AEF55BFA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43200"/>
            <a:ext cx="1438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Pair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65AFD-00D6-4B9D-801E-55DFDECD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1666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3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57CED6-A855-4DBA-AB36-333A78A4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43200"/>
            <a:ext cx="1438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D6F75-84C7-4173-8857-273C30BB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1666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6A9C2-E30E-4E10-946E-C5E5BB6F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43200"/>
            <a:ext cx="1438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Top 65%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476CBF-4D26-4A7E-9AAF-146D92A2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1666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3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68B18C-0CC5-4A3E-B19C-E6196377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43200"/>
            <a:ext cx="1438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Scorer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8713FE-08CD-4D94-944B-71FFF89C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1666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38AB11-71E6-4E7E-87F0-282AC1F3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743200"/>
            <a:ext cx="1438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RRF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A4FBB-D9D2-40BC-A6F0-4A124724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1381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12B7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531DD8-C6F6-4A27-8B68-F1AB4D7E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743200"/>
            <a:ext cx="1152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B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2B76A"/>
                </a:solidFill>
                <a:latin typeface="Helvetica Neue"/>
                <a:ea typeface="Helvetica Neue"/>
                <a:cs typeface="Helvetica Neue"/>
              </a:rPr>
              <a:t>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B2BF1C-4349-466C-BED0-FB7F411D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28800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EEF4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E8D403-7773-4142-94A5-FA5BA999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954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CATEGORY-WISE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16CC9C-AD93-4ABD-BDE5-2A7CB866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57625"/>
            <a:ext cx="3333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F2FA24-9341-4EE2-9946-98AB30D5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57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Selective reverse pass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B0324D-D13F-4B60-92A4-85FB0BD9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1007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75% самых спорных пар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7219950" y="354330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BFF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188C26-180F-4454-86C9-DE1FA35A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95875"/>
            <a:ext cx="3333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005D40-5F14-466E-BEA6-5DE8E5D6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3149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54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5484D"/>
                </a:solidFill>
                <a:latin typeface="Helvetica Neue"/>
                <a:ea typeface="Helvetica Neue"/>
                <a:cs typeface="Helvetica Neue"/>
              </a:rPr>
              <a:t>Exact text-negative correction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10001250" y="3543300"/>
            <a:ext cx="0" cy="1552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5484D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0483656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3C8633-B72A-43BF-BDD0-DC06D089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COMPUTE ALLOCATION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0E7A7-4A05-467F-96C9-66F65560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Каскад: дорогой scorer только там, где он нужен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95300" y="13049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8B8B8-CF80-486A-9295-ACE4A239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F13CC-7FCD-45EB-9255-111AD262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Все пары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9EAAB-7E4E-4855-9EF8-67AFE5F3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4286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AEEF4-FA52-42C2-A0A3-EC14D359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3619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FF"/>
          </a:solidFill>
          <a:ln xmlns:a="http://schemas.openxmlformats.org/drawingml/2006/main" w="9525">
            <a:solidFill>
              <a:srgbClr val="005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FDFA5-0B66-41A4-83DB-4BC81173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52725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FF"/>
          </a:solidFill>
          <a:ln xmlns:a="http://schemas.openxmlformats.org/drawingml/2006/main" w="9525">
            <a:solidFill>
              <a:srgbClr val="005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E9720-17D9-4396-ACEE-BED2C226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527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FF"/>
          </a:solidFill>
          <a:ln xmlns:a="http://schemas.openxmlformats.org/drawingml/2006/main" w="9525">
            <a:solidFill>
              <a:srgbClr val="005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BFD93-5004-47E3-813F-FB848D1C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52775"/>
            <a:ext cx="3048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FF"/>
          </a:solidFill>
          <a:ln xmlns:a="http://schemas.openxmlformats.org/drawingml/2006/main" w="9525">
            <a:solidFill>
              <a:srgbClr val="005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AF52B-3F9B-4399-8779-3400335D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2857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FF"/>
          </a:solidFill>
          <a:ln xmlns:a="http://schemas.openxmlformats.org/drawingml/2006/main" w="9525">
            <a:solidFill>
              <a:srgbClr val="005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81F67-9AE6-4745-B005-8714CA84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52825"/>
            <a:ext cx="2667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FF"/>
          </a:solidFill>
          <a:ln xmlns:a="http://schemas.openxmlformats.org/drawingml/2006/main" w="9525">
            <a:solidFill>
              <a:srgbClr val="005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59BF9-7233-48DA-9C2B-F843D5BB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5285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92F02-BCFB-414E-A741-55B7B16C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52875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A0301-C183-4754-8954-AC2C50CA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52900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31CFD-1DA9-481C-885C-6E1D239E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52925"/>
            <a:ext cx="1905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36131-1247-4102-925B-4BC7BDD4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Gate ранжирует полный набор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5619750" y="32194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5BFF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B275CC-940A-461B-AF71-5CCE5F5B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724150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65%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45EA2B-A6B4-4F4F-8E7C-56CFA730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05050"/>
            <a:ext cx="4286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005B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8A182D-E81C-4EBE-9FA4-C460A0E2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479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Top кандидатов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CEA829-77C6-4AAD-9B4D-B8E56944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099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полный cross-encoder scorer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FDE1EB-9B01-4FC0-8604-D067D3D7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57625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+ selective symmetry</a:t>
            </a:r>
          </a:p>
          <a:p xmlns:a="http://schemas.openxmlformats.org/drawingml/2006/main">
            <a:pPr algn="ctr">
              <a:def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+ category-wise RRF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72DB07-5854-4D6C-8AA4-72F70C08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81675"/>
            <a:ext cx="10496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FFF6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D4FEBF-B5A5-46B5-AC5D-D06CE6E6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57875"/>
            <a:ext cx="1015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90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79009"/>
                </a:solidFill>
                <a:latin typeface="Helvetica Neue"/>
                <a:ea typeface="Helvetica Neue"/>
                <a:cs typeface="Helvetica Neue"/>
              </a:rPr>
              <a:t>Каскад связывает качество ранга и лимит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10490693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57B93D-B64F-4CB4-8ADA-2269C20E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FUSION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290DE-CF5E-4514-BCA8-A80A7B7F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Partial symmetry + RRF: объединяем порядок, не шкалы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95300" y="13049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BCA26-CEA9-4D39-BEEA-D7003F09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3755D-66BD-4D72-9900-F4FFC6F9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51435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09852-78C3-42B5-8D15-A98A2147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Selective symmetry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1EE35-7D75-4F58-BB90-B9907C23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EEF4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C7F72-2C3A-4D58-B4EC-A7507886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527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A →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C861D-754E-4E8A-A8EA-D367B612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8605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FFF6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B2CBD-21CB-4DAE-B611-52BF51E7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527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90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79009"/>
                </a:solidFill>
                <a:latin typeface="Helvetica Neue"/>
                <a:ea typeface="Helvetica Neue"/>
                <a:cs typeface="Helvetica Neue"/>
              </a:rPr>
              <a:t>B → A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1924050" y="2847975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E3EC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61AD7-7827-4A19-A8CC-A63294E4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Обратный проход только для 75%</a:t>
            </a:r>
          </a:p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пар с максимальным disagreement.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2E476-CFD7-489F-86AD-C18C55F5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4476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EEF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A75B4-EE8E-458C-A389-E056721E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887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Меньше compute, почти вся ценность симметрии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8C6CC8-4AA7-486E-88CA-8706FF57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9750"/>
            <a:ext cx="54864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7520A-5AAD-456C-890A-B54E00A0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57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Reciprocal Rank Fusion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7D908-3A6B-41C6-BB33-33E07018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RRF(d) = Σ  1 / (k + rankᵢ(d))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D1B74-9F2E-4A6D-ADF8-D1BD89AA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766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k = 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B3E7F-1606-42D8-BB06-379AA2A4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671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02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Ранги считаются отдельно внутри каждой категории. Разные шкалы score не требуют калибровки.</a:t>
            </a:r>
          </a:p>
        </p:txBody>
      </p:sp>
    </p:spTree>
    <p:extLst>
      <p:ext uri="{BB962C8B-B14F-4D97-AF65-F5344CB8AC3E}">
        <p14:creationId xmlns:p14="http://schemas.microsoft.com/office/powerpoint/2010/main" val="17573639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1166FE-3685-444A-BA78-AD2721CC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POST-PROCESSING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16D05-D901-43AB-89BF-E5BEEB44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Exact text-negative signatures: точечная коррекция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95300" y="13049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46B7A-A3FC-47A0-8184-87C978D9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DDC07-6B35-48F8-986B-ED1D7966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6953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A6B7D-D111-40BD-A6D5-C2286485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Текст пары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1CEA5-814D-436A-8DA5-F8279E42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normalize → hash × 4 → exact lookup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67021-3170-4297-82BA-B21BD603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1333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EEF4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01051-DDB0-453D-9933-9C8BA61E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9F2A…31C4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06E3A-4F8B-4020-BBDB-8A190289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14700"/>
            <a:ext cx="1333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EEF4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E8C44-938A-4166-86D6-E59D3310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813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104B…7DA9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20631-0F51-465B-80A0-95493353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14700"/>
            <a:ext cx="1333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9A1B7-7A93-4D03-B286-1874D882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813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54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5484D"/>
                </a:solidFill>
                <a:latin typeface="Helvetica Neue"/>
                <a:ea typeface="Helvetica Neue"/>
                <a:cs typeface="Helvetica Neue"/>
              </a:rPr>
              <a:t>AA83…220E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7D472-FB4D-427E-8BD8-B800C789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14700"/>
            <a:ext cx="1333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EEF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E1DF3-0652-4074-8F00-DA9A2EB3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813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5C10…B821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57C090-64ED-4917-9D9E-BA17B900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48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5484D"/>
                </a:solidFill>
                <a:latin typeface="Helvetica Neue"/>
                <a:ea typeface="Helvetica Neue"/>
                <a:cs typeface="Helvetica Neue"/>
              </a:rPr>
              <a:t>Совпадение найдено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9D6BA-A7F5-406E-B3F3-DB52DB7C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619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Детерминированно понижаем повторяющийся negative-паттерн перед финальной выдачей.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12402-7158-4C8B-9059-90F42A5A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85950"/>
            <a:ext cx="3562350" cy="37147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172B4D"/>
          </a:solidFill>
          <a:ln xmlns:a="http://schemas.openxmlformats.org/drawingml/2006/main" w="9525">
            <a:solidFill>
              <a:srgbClr val="172B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911EF6-93C0-4B23-AD1F-960E7DE8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226 238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A1E60-23F6-46F7-8301-CAFAAB3A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DF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DF3FF"/>
                </a:solidFill>
                <a:latin typeface="Helvetica Neue"/>
                <a:ea typeface="Helvetica Neue"/>
                <a:cs typeface="Helvetica Neue"/>
              </a:rPr>
              <a:t>сигнатур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8324850" y="3857625"/>
            <a:ext cx="2724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05575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C2EBB6-8C73-4C52-8ACA-33657FE0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910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7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C"/>
                </a:solidFill>
                <a:latin typeface="Helvetica Neue"/>
                <a:ea typeface="Helvetica Neue"/>
                <a:cs typeface="Helvetica Neue"/>
              </a:rPr>
              <a:t>shape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ACD6A7-0013-44BE-9067-C727A232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910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(N, 4)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967D68-73B3-4BA5-89F5-FEAEEDD2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7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C"/>
                </a:solidFill>
                <a:latin typeface="Helvetica Neue"/>
                <a:ea typeface="Helvetica Neue"/>
                <a:cs typeface="Helvetica Neue"/>
              </a:rPr>
              <a:t>поиск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EC6BA2-6170-4A4D-816B-EF1B36B4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6863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exact</a:t>
            </a:r>
          </a:p>
        </p:txBody>
      </p:sp>
    </p:spTree>
    <p:extLst>
      <p:ext uri="{BB962C8B-B14F-4D97-AF65-F5344CB8AC3E}">
        <p14:creationId xmlns:p14="http://schemas.microsoft.com/office/powerpoint/2010/main" val="3309707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F3EBC7-4E1B-4ED0-8CE7-F51CFA33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D1EC4-49B3-4780-8C22-D747B05D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Runtime engineering: ускорение без потери порядка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95300" y="13049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FCD1D-B01A-4EF1-846A-06A6F351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0ECE8-55B1-4D5E-8172-5DEDB09D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335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Оптимизации измерялись на frozen runtime и вошли в финальный архив.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C076C-073C-4E70-8E50-C2CC672B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EEF4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CB812-F00D-442F-A0A3-E9A1AD44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26.8% → 0.35%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18680-CECA-4F48-B305-734B7D0C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padding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BF16D-32F3-41C8-8E50-C0578B43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сортировка по token length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B933D-02FE-4CF3-A823-8EAE39F4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860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69206-63D8-463D-A704-BC2FB191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67000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B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2B76A"/>
                </a:solidFill>
                <a:latin typeface="Helvetica Neue"/>
                <a:ea typeface="Helvetica Neue"/>
                <a:cs typeface="Helvetica Neue"/>
              </a:rPr>
              <a:t>45.9s → 9.5s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DC975-6CAF-4275-AF0C-382EFF42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480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tokenization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25F9D-DEE5-4134-9286-5D8524E1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433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параллельные workers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A146DA-5FB2-47CA-81A5-9A869A50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FFF6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8BEB0-A8DA-4A9C-BC9C-18ED2247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790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F79009"/>
                </a:solidFill>
                <a:latin typeface="Helvetica Neue"/>
                <a:ea typeface="Helvetica Neue"/>
                <a:cs typeface="Helvetica Neue"/>
              </a:rPr>
              <a:t>GPU-aware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5E2BC-3299-426E-99ED-5C66E90F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480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batch size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CC0CCF-5779-4120-978A-1950B32C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адаптация к памяти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94F287-1C8D-433C-B8EE-604C0B8E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34025"/>
            <a:ext cx="10896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B4D"/>
          </a:solidFill>
          <a:ln xmlns:a="http://schemas.openxmlformats.org/drawingml/2006/main" w="9525">
            <a:solidFill>
              <a:srgbClr val="172B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22DD33-68C9-4FB9-A00B-D380168C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Результат: больше бюджета остаётся на scorer и symmetry в верхней части ранга.</a:t>
            </a:r>
          </a:p>
        </p:txBody>
      </p:sp>
    </p:spTree>
    <p:extLst>
      <p:ext uri="{BB962C8B-B14F-4D97-AF65-F5344CB8AC3E}">
        <p14:creationId xmlns:p14="http://schemas.microsoft.com/office/powerpoint/2010/main" val="5544396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A4B0EA-A7BA-45F2-946D-823B0403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RISK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B3AF9-2BBD-4F5D-B85C-3DF31288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Два финалиста: максимум качества и runtime-хедж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95300" y="13049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D44F2-F99F-4B27-BBF1-4CCAEA67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F2B63-DF5E-40CB-B721-A289F7E2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5238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5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501E7-313E-4AF7-A4E6-0311A19C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EEF4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8A3B3-A817-4A1C-AC80-B56F7DAE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PRIMARY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2B98F-D6A8-4599-A3A7-A0D944CC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mix408_textneg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692BF-73C1-4AF9-9761-D66507A9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6707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0.5480056269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B7F51-0A79-4868-8084-0AB0FD98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symmetric gate</a:t>
            </a:r>
          </a:p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partial symmetry scorer</a:t>
            </a:r>
          </a:p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text-negative correction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0A980-5D54-4778-9802-0EBF460C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238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1506B-2083-40A7-A0A5-93523346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104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FFF6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848CA-703E-4607-B9D8-9E286FEE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4312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90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79009"/>
                </a:solidFill>
                <a:latin typeface="Helvetica Neue"/>
                <a:ea typeface="Helvetica Neue"/>
                <a:cs typeface="Helvetica Neue"/>
              </a:rPr>
              <a:t>HEDGE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C297B-F4A8-494D-8C36-2B941D85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final_safe_fwdgate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5FAC9-A2D5-4D7D-9308-196A1542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6707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90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79009"/>
                </a:solidFill>
                <a:latin typeface="Helvetica Neue"/>
                <a:ea typeface="Helvetica Neue"/>
                <a:cs typeface="Helvetica Neue"/>
              </a:rPr>
              <a:t>0.5426350252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A0851-F328-46E8-975E-087C27AC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48125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forward-only gate</a:t>
            </a:r>
          </a:p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меньше runtime-risk</a:t>
            </a:r>
          </a:p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та же схема scorer + RRF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1FC5C-734B-4032-AA37-3FCBAF68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48350"/>
            <a:ext cx="10972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EEF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80698-EC03-49EA-9450-4316921E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4075"/>
            <a:ext cx="1051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Private больше → runtime-risk выше.</a:t>
            </a:r>
          </a:p>
        </p:txBody>
      </p:sp>
    </p:spTree>
    <p:extLst>
      <p:ext uri="{BB962C8B-B14F-4D97-AF65-F5344CB8AC3E}">
        <p14:creationId xmlns:p14="http://schemas.microsoft.com/office/powerpoint/2010/main" val="1301072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7D85B-77A1-423B-9A23-F3C9441D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ИТОГ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8433F-0111-4489-8DAC-39714579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Результат: сильный public и 3 место в финале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95300" y="13049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6F730-B8B7-4C3F-A621-93AAE3B1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175B2-0347-41B1-BE0C-742D212E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33909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05BFF"/>
          </a:solidFill>
          <a:ln xmlns:a="http://schemas.openxmlformats.org/drawingml/2006/main" w="9525">
            <a:solidFill>
              <a:srgbClr val="005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8D1E6-F5AD-434C-9583-FC388E81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0"/>
            <a:ext cx="339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71A53-B0BA-4DB7-85F9-EFA335B9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место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C2CCE-18E7-4988-B62C-7511CC7A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243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DF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DF3FF"/>
                </a:solidFill>
                <a:latin typeface="Helvetica Neue"/>
                <a:ea typeface="Helvetica Neue"/>
                <a:cs typeface="Helvetica Neue"/>
              </a:rPr>
              <a:t>Ozon E-CUP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DC150-1CE6-40ED-9B5D-FC557BCB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72009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69939-6289-4CFD-ACE9-11889B8C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00275"/>
            <a:ext cx="659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0.5480056269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F36A6-E191-4FDF-AFC7-74607761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659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лучший отправленный public Macro PR-AUC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F0ECA-AD8B-463C-99F4-E495E7E7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90925"/>
            <a:ext cx="72009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F6D70-6949-4951-827C-FF0D03AE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67150"/>
            <a:ext cx="659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 финальных архива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FFA21-05BD-49F0-9A55-8F64E6A0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57700"/>
            <a:ext cx="659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оба зафиксированы member-level SHA-256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9E2223-FFB9-477B-9A32-C4A7220E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435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85D0E-4A48-49B6-A00D-575BD2CB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B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2B76A"/>
                </a:solidFill>
                <a:latin typeface="Helvetica Neue"/>
                <a:ea typeface="Helvetica Neue"/>
                <a:cs typeface="Helvetica Neue"/>
              </a:rPr>
              <a:t>Главный вывод: для matching ranking-система и runtime важны не меньше, чем backbone.</a:t>
            </a:r>
          </a:p>
        </p:txBody>
      </p:sp>
    </p:spTree>
    <p:extLst>
      <p:ext uri="{BB962C8B-B14F-4D97-AF65-F5344CB8AC3E}">
        <p14:creationId xmlns:p14="http://schemas.microsoft.com/office/powerpoint/2010/main" val="2509691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68CE45-5A89-45AC-A7B2-6C681BD5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ВЫВОДЫ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6D251-7B99-4D1D-BAAA-9458FD0A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Что переносится на другие matching-задачи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95300" y="13049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D5C2E-16E1-488A-84B9-0D9E1D43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11EB8-F43B-4AA1-95D5-779ED36E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53721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BFEF3-95A3-4833-83DD-C1F3ABCB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4128B-BD76-4600-8EEB-74F70EBE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Проектировать под метрику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D9C44-41A8-4DB8-99AD-F400A579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955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Работать с рангом внутри групп, контролировать ties и precision.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190EA-48D6-43D9-8C45-F7A57388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3721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2CBBB-D231-4D8A-9362-D0B35440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193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2FB2E-F89B-4AEF-A8C8-250531BB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Тратить compute адресно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ED6DE-6499-4CBD-A863-319A2518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955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Cascade и disagreement выбирают пары, где дорогой проход полезнее.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9192D-9A41-42EA-A9C8-4727E8B9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53721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7623C-C966-415F-BEC6-79DED497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719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15BA5-78E6-4607-AC2C-B26C81C4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719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Разделять шкалу и порядок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926A8-54F8-41E3-9074-88DAE6AD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4817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RRF объединяет модели без хрупкой калибровки score.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3FC87D-4D24-44EA-A6BA-68E2063C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3721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D0C61-68EA-4B69-9F27-54FEED93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719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887820-157F-475A-8D5C-D82B1D68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719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Считать runtime частью модели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2A6B90-724A-4350-8F09-6DEA80B1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4817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Token length batching и hedge снижают риск на hidden split.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8D2B92-EC3C-4068-9B26-5C4BB2C3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5BFF"/>
                </a:solidFill>
                <a:latin typeface="Helvetica Neue"/>
                <a:ea typeface="Helvetica Neue"/>
                <a:cs typeface="Helvetica Neue"/>
              </a:rPr>
              <a:t>Вопросы</a:t>
            </a:r>
          </a:p>
        </p:txBody>
      </p:sp>
    </p:spTree>
    <p:extLst>
      <p:ext uri="{BB962C8B-B14F-4D97-AF65-F5344CB8AC3E}">
        <p14:creationId xmlns:p14="http://schemas.microsoft.com/office/powerpoint/2010/main" val="227612681"/>
      </p:ext>
    </p:extLst>
  </p:cSld>
</p:sld>
</file>

<file path=ppt/theme/theme1.xml><?xml version="1.0" encoding="utf-8"?>
<a:theme xmlns:a="http://schemas.openxmlformats.org/drawingml/2006/main" name="Ozon E-CUP 2026">
  <a:themeElements>
    <a:clrScheme name="Ozon E-CUP 2026">
      <a:dk1>
        <a:srgbClr val="000000"/>
      </a:dk1>
      <a:lt1>
        <a:srgbClr val="FFFFFF"/>
      </a:lt1>
      <a:dk2>
        <a:srgbClr val="172B4D"/>
      </a:dk2>
      <a:lt2>
        <a:srgbClr val="DCE3EC"/>
      </a:lt2>
      <a:accent1>
        <a:srgbClr val="005BFF"/>
      </a:accent1>
      <a:accent2>
        <a:srgbClr val="F79009"/>
      </a:accent2>
      <a:accent3>
        <a:srgbClr val="12B76A"/>
      </a:accent3>
      <a:accent4>
        <a:srgbClr val="E5484D"/>
      </a:accent4>
      <a:accent5>
        <a:srgbClr val="2F80ED"/>
      </a:accent5>
      <a:accent6>
        <a:srgbClr val="172B4D"/>
      </a:accent6>
      <a:hlink>
        <a:srgbClr val="005BFF"/>
      </a:hlink>
      <a:folHlink>
        <a:srgbClr val="7F56D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zon E-CUP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2026-08-31T10:33:16.3750000Z</dcterms:created>
  <dcterms:modified xsi:type="dcterms:W3CDTF">2026-08-31T10:33:16.3750000Z</dcterms:modified>
</coreProperties>
</file>